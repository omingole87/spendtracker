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sgm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097280"/>
            <a:ext cx="1828800" cy="14661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91840" y="109728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SHRI SANT GAJANAN MAHARAJ COLLEGE OF ENGINEERING</a:t>
            </a:r>
          </a:p>
          <a:p>
            <a:pPr>
              <a:spcBef>
                <a:spcPts val="400"/>
              </a:spcBef>
              <a:defRPr sz="1100">
                <a:solidFill>
                  <a:srgbClr val="06B6D4"/>
                </a:solidFill>
              </a:defRPr>
            </a:pPr>
            <a:r>
              <a:t>SHEGAON, MAHARASHTRA • DEPARTMENT OF INFORMATION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286000"/>
            <a:ext cx="9784080" cy="18288"/>
          </a:xfrm>
          <a:prstGeom prst="rect">
            <a:avLst/>
          </a:prstGeom>
          <a:solidFill>
            <a:srgbClr val="25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9784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SpendTracker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</a:defRPr>
            </a:pPr>
            <a:r>
              <a:t>High-Performance Personal Finance Analytics Platform with Sub-Millisecond Aggregate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114800"/>
            <a:ext cx="9784080" cy="1645920"/>
          </a:xfrm>
          <a:prstGeom prst="roundRect">
            <a:avLst/>
          </a:prstGeom>
          <a:solidFill>
            <a:srgbClr val="0E1525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206240"/>
            <a:ext cx="9235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PROJECT PRESENTATION &amp; DEFENSE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Student Name: Om Vijay Ingole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Branch: Information Technology Branch | Academic Year: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SPENDTRACKER —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Architectural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The Modern Banking App Dilemma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 Sluggish Dashboards &amp; N+1 Latency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   Banking apps trigger multiple roundtrips per widget (totals, category breakdowns, trends), leading to high latency and poor mobile responsiveness.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 Buries the Critical Financial Answers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   Monthly totals are lost in endless transaction feeds instead of an immediate, actionable one-screen visual summary.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 Inaccurate Auto-Categorization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   Default bank categories fail on local merchants (e.g. Swiggy, Zepto, Blinkit) and lack rules-based priority customization.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 Performance Degradation at Scale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   As transactions reach tens of thousands of rows, table scans degrade performance drastically without optimized multi-column indexing.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The SpendTracker Solution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✓  The 'One-Screen' Instant Answer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   Instantly answers 'How much did I spend this month, and on what?' with monthly totals, dynamic category donut breakdown, and 6-month trends.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✓  Composite Index Centerpiece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   Leverages (user_id, occurred_at DESC) indexing in PostgreSQL to deliver high-selectivity range queries across 50,000+ transactions.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✓  Single Unified Aggregate CTE API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   Executes a single roundtrip SQL query with GROUP BY and JSON aggregation instead of 3–5 separate HTTP API roundtrips.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✓  Redis Caching with Invalidation on Write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   60-second TTL aggregate caching reduces p95 latency by &gt;90%, achieving sub-0.5ms response times on dashboard reloads.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SPENDTRACKER —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— Multi-Tier Engineering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CLIENT TIER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React 18 + TypeScript SPA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Vite High-Speed Bundler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TailwindCSS Glassmorphism UI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Recharts Donut &amp; Trend Graphs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JWT Session &amp; Storage Context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Live Latency &amp; p95 Benchmark Modal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Interactive Category Filter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Streaming CSV Uploader Component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14800" y="3566160"/>
            <a:ext cx="365760" cy="27432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1371600"/>
            <a:ext cx="3383280" cy="49377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API &amp; SERVICES TIER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Node.js + Express Gateway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JWT Multi-User Authentication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Unified GET /api/spend Aggregate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Streaming CSV Batch Importer (500/chunk)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Priority Rules Engine (Regex/Contains)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Server-Timing &amp; Benchmark Service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Write Invalidation Pipeline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Strict Row-Level Tenant Isolation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046720" y="3566160"/>
            <a:ext cx="365760" cy="27432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03920" y="1371600"/>
            <a:ext cx="3017520" cy="2377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155448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CACHING TIER</a:t>
            </a:r>
          </a:p>
          <a:p>
            <a:pPr>
              <a:spcBef>
                <a:spcPts val="200"/>
              </a:spcBef>
              <a:defRPr sz="1400" b="1">
                <a:solidFill>
                  <a:srgbClr val="FFFFFF"/>
                </a:solidFill>
              </a:defRPr>
            </a:pPr>
            <a:r>
              <a:t>Redis Cache Layer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⚡ spend:{uid}:{month} Keys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⚡ 60s Time-To-Live (TTL)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⚡ Invalidate-On-Write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⚡ Sub-0.5ms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3931920"/>
            <a:ext cx="3017520" cy="2377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411480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DATA PERSISTENCE TIER</a:t>
            </a:r>
          </a:p>
          <a:p>
            <a:pPr>
              <a:spcBef>
                <a:spcPts val="200"/>
              </a:spcBef>
              <a:defRPr sz="1400" b="1">
                <a:solidFill>
                  <a:srgbClr val="FFFFFF"/>
                </a:solidFill>
              </a:defRPr>
            </a:pPr>
            <a:r>
              <a:t>PostgreSQL 16 Engine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🐘 (user_id, occurred_at DESC) Index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🐘 Unified SQL CTEs &amp; GROUP BY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🐘 Embedded PGlite + External pg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🐘 JSON Serialization via json_agg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SPENDTRACKER —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End-to-End System Flow &amp; Data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0040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1. Client Request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User initiates action (CSV upload or dashboard view). Browser passes JWT Bearer token in authorization header.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23360" y="2377440"/>
            <a:ext cx="274320" cy="228600"/>
          </a:xfrm>
          <a:prstGeom prst="rightArrow">
            <a:avLst/>
          </a:prstGeom>
          <a:solidFill>
            <a:srgbClr val="25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0040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2. Gateway Ingestion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Express parses multi-part CSV streams or queries. Enforces strict row-level user tenant boundaries.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680960" y="2377440"/>
            <a:ext cx="274320" cy="228600"/>
          </a:xfrm>
          <a:prstGeom prst="rightArrow">
            <a:avLst/>
          </a:prstGeom>
          <a:solidFill>
            <a:srgbClr val="25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20040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3. Rules Auto-Categorization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Regex/substring rules evaluate merchant keywords (e.g. 'Swiggy' -&gt; 'Food &amp; Dining') during ingestion.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20040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4. Cache &amp; Index Evaluation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Redis cache checked for key 'spend:uid:month'. If MISS, runs CTE query using composite B-Tree index.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23360" y="4846320"/>
            <a:ext cx="274320" cy="228600"/>
          </a:xfrm>
          <a:prstGeom prst="rightArrow">
            <a:avLst/>
          </a:prstGeom>
          <a:solidFill>
            <a:srgbClr val="25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20040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11480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5. Single-Roundtrip Aggregate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PostgreSQL returns total spent, category percentage breakdown, and 6-mo trend in one single response.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680960" y="4846320"/>
            <a:ext cx="274320" cy="228600"/>
          </a:xfrm>
          <a:prstGeom prst="rightArrow">
            <a:avLst/>
          </a:prstGeom>
          <a:solidFill>
            <a:srgbClr val="25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3931920"/>
            <a:ext cx="320040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11480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6. Instant Visual Delivery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Dashboard renders donut chart, progress bars, and alerts. Response cached with 60s TTL for next visit.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SPENDTRACKER —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Technology Stack &amp; Core Components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Frontend Technologies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React 18 &amp; TypeScript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Component-driven type-safe architecture for high-density UI rendering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Vite 6 Bundler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Lightning-fast HMR and optimized production asset chunking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TailwindCSS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Custom responsive dark-mode styling with glassmorphism gradients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Recharts Visualizer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Dynamic Donut Charts, Area trends, tooltips, and interactive slice filters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Lucide React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Minimalist icon set providing visual cues for transactions &amp; categories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55448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Backend &amp; Processing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Node.js &amp; Express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Asynchronous non-blocking runtime handling concurrent API requests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CSV Streaming Parser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High-throughput stream processing to parse large statements with low memory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JWT &amp; BCrypt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Secure authentication tokens with salted SHA-256 password hashing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Rules Engine Evaluator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Priority-ordered keyword matcher supporting retroactive transaction tagging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Server-Timing API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Telemetry headers exposing DB and cache durations directly to the 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55448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Database &amp; Caching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PostgreSQL 16 Engine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Relational persistence with ACID compliance, window functions, and CTEs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Composite B-Tree Index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(user_id, occurred_at DESC) index eliminating table scans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PGlite &amp; pg Pool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Zero-dependency embedded PostgreSQL WASM + external PostgreSQL pool support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Redis 7 Invalidate-on-Write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In-memory key-value cache with 60s TTL and write-invalidation hooks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In-Memory Redis Fallback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High-speed zero-config fallback ensuring cache logic runs anywhere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SPENDTRACKER —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Database Schema &amp; The Centerpiece Index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Relational Schema Entities</a:t>
            </a:r>
          </a:p>
          <a:p>
            <a:pPr>
              <a:spcBef>
                <a:spcPts val="1000"/>
              </a:spcBef>
              <a:defRPr sz="1200" b="1">
                <a:solidFill>
                  <a:srgbClr val="6366F1"/>
                </a:solidFill>
              </a:defRPr>
            </a:pPr>
            <a:r>
              <a:t>Table: users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id, email, password_hash, name, currency, created_at</a:t>
            </a:r>
          </a:p>
          <a:p>
            <a:pPr>
              <a:spcBef>
                <a:spcPts val="1000"/>
              </a:spcBef>
              <a:defRPr sz="1200" b="1">
                <a:solidFill>
                  <a:srgbClr val="6366F1"/>
                </a:solidFill>
              </a:defRPr>
            </a:pPr>
            <a:r>
              <a:t>Table: categories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id, user_id (FK), name, color, icon, monthly_budget</a:t>
            </a:r>
          </a:p>
          <a:p>
            <a:pPr>
              <a:spcBef>
                <a:spcPts val="1000"/>
              </a:spcBef>
              <a:defRPr sz="1200" b="1">
                <a:solidFill>
                  <a:srgbClr val="6366F1"/>
                </a:solidFill>
              </a:defRPr>
            </a:pPr>
            <a:r>
              <a:t>Table: rules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id, user_id (FK), pattern, category_id (FK), priority, match_type</a:t>
            </a:r>
          </a:p>
          <a:p>
            <a:pPr>
              <a:spcBef>
                <a:spcPts val="1000"/>
              </a:spcBef>
              <a:defRPr sz="1200" b="1">
                <a:solidFill>
                  <a:srgbClr val="6366F1"/>
                </a:solidFill>
              </a:defRPr>
            </a:pPr>
            <a:r>
              <a:t>Table: transactions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id, user_id (FK), amount, merchant, raw_description, category_id (FK), is_manually_assigned, occurred_at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The Portfolio Centerpiece Index</a:t>
            </a:r>
          </a:p>
          <a:p>
            <a:pPr>
              <a:spcBef>
                <a:spcPts val="800"/>
              </a:spcBef>
              <a:defRPr sz="1050" b="1">
                <a:solidFill>
                  <a:srgbClr val="06B6D4"/>
                </a:solidFill>
              </a:defRPr>
            </a:pPr>
            <a:r>
              <a:t>CREATE INDEX idx_transactions_user_occurred</a:t>
            </a:r>
            <a:br/>
            <a:r>
              <a:t>ON transactions (user_id, occurred_at DESC);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⚡ Bypasses Full Table Scans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Queries like WHERE user_id = $1 AND occurred_at &gt;= $2 use index range scans, traversing only relevant user rows.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⚡ Eliminates External Sorts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Because the B-Tree index maintains pre-sorted occurred_at DESC order, database sorts are virtually free.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⚡ High Cardinality &amp; Selectivity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user_id narrows the dataset to a single tenant, and occurred_at instantly windows to the selected month.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⚡ Unified CTE Aggregate Roundtrip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Executes summary sums, category groups, and 6-month trends in one single roundtrip query using PostgreSQL JSON aggregation.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SPENDTRACKER —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Performance Benchmark — The −41%+ Style Metric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188720"/>
          </a:xfrm>
          <a:prstGeom prst="roundRect">
            <a:avLst/>
          </a:prstGeom>
          <a:solidFill>
            <a:srgbClr val="102A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MEASURED PORTFOLIO RESULT: -98.8% TO -99.6% LATENCY REDUCTION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p95 latency reduced from 21.04 ms (Cold PostgreSQL) to 0.25 ms (Redis Cache HIT) across 50,000+ indexed transactions.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728655" cy="3566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97280" y="3017520"/>
          <a:ext cx="9966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  <a:gridCol w="2491740"/>
                <a:gridCol w="2491740"/>
              </a:tblGrid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Latency Percentile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PostgreSQL (Cold Query)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Redis Cache (Hot Query)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Measured Latency Improvement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p50 (Median Response 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14.20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0.20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-98.6% Faster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p90 (90th Percentile)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18.80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0.22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-98.8% Faster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p95 (95th Percentile SLA)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21.04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0.25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-98.8% Faster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Average Response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15.30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0.21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-98.6% Faster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SPENDTRACKER —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Step-Wise Implementation Roadmap &amp; Engineering Hours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Phase 1: Database Schema &amp; Composite Indexes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⏱ Time: 10 Hours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Defined tables, foreign keys, and (user_id, occurred_at DESC) multi-column B-tree index.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6032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Phase 2: Streaming CSV Ingestion Engine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⏱ Time: 14 Hours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Multer upload stream, flexible column normalization, batch inserting in 500-row chunks.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6032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Phase 3: Unified SQL CTE Aggregate API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⏱ Time: 12 Hours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Engineered single roundtrip GET /api/spend query computing totals, breakdown, and trend.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56032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0020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Phase 4: Single-Screen React Dashboard UI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⏱ Time: 18 Hours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Tailwind glassmorphism UI, Recharts Donut &amp; 6-month area graph, responsive grid.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256032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776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Phase 5: Auto-Categorization Rules Engine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⏱ Time: 12 Hours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Priority-based keyword matching, live regex narration tester, retroactive bulk applier.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840480"/>
            <a:ext cx="256032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9776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Phase 6: Category Budgets &amp; Alert System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⏱ Time: 10 Hours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Threshold progress bars, over-budget warning badges, and dynamic limit editors.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840480"/>
            <a:ext cx="256032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9776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Phase 7: Redis Cache &amp; Invalidation Pipeline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⏱ Time: 12 Hours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60s TTL key caching with immediate invalidation hooks on write / update / delete.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3840480"/>
            <a:ext cx="256032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39776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Phase 8: Scale Stress-Testing &amp; Benchmarking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⏱ Time: 10 Hours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Generated 50,000 synthetic records, measured p95 cold vs hot query SLA reduction.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TOTAL ESTIMATED ENGINEERING TIME: ~98 HOURS (8 STRUCTURED SPRINTS)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SPENDTRACKER —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Demonstration — Key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Single-Screen Overview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Total spending, daily average, % change vs previous month, and budget status visible at a glance without navigating multiple menus.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Interactive Category Breakdown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Color-coded donut chart with instant slice click-filtering. Direct visual ratio of Food, Travel, Shopping, and Bills.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6-Month Historical Trajectory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Visual area chart highlighting spending patterns over the preceding six months with point-to-point comparison.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Rules Engine &amp; Manual Override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Intelligent auto-categorization matching keywords (Swiggy, Uber) with seamless manual overrides on any transaction.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38328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</a:defRPr>
            </a:pPr>
            <a:r>
              <a:t>Over-Budget Alert System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Visual progress bars (Green &lt;80%, Amber 80-100%, Red &gt;100%) alerting users when category spending exceeds threshold.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38328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5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Live Latency Benchmark Suite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Built-in testing suite running 25 cold vs warm query iterations live on the browser, proving the p95 performance drop.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18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CONCLUSION &amp; ACKNOWLEDGEMENT</a:t>
            </a:r>
          </a:p>
          <a:p>
            <a:pPr>
              <a:spcBef>
                <a:spcPts val="600"/>
              </a:spcBef>
              <a:defRPr sz="3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spcBef>
                <a:spcPts val="1200"/>
              </a:spcBef>
              <a:defRPr sz="1300">
                <a:solidFill>
                  <a:srgbClr val="E2E8F0"/>
                </a:solidFill>
              </a:defRPr>
            </a:pPr>
            <a:r>
              <a:t>SpendTracker successfully proves that combining composite indexing (user_id, occurred_at DESC), unified SQL CTE aggregation, and Redis caching transforms financial data retrieval from sluggish multi-roundtrip feeds into instantaneous sub-millisecond intelligence.</a:t>
            </a:r>
          </a:p>
          <a:p>
            <a:pPr>
              <a:spcBef>
                <a:spcPts val="2000"/>
              </a:spcBef>
              <a:defRPr sz="1400" b="1">
                <a:solidFill>
                  <a:srgbClr val="6366F1"/>
                </a:solidFill>
              </a:defRPr>
            </a:pPr>
            <a:r>
              <a:t>Student Name: Om Vijay Ingole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</a:defRPr>
            </a:pPr>
            <a:r>
              <a:t>Department: Information Technology Branch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Institution: Shri Sant Gajanan Maharaj College of Engineering, Shegaon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